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4591" r:id="rId2"/>
    <p:sldMasterId id="2147484579" r:id="rId3"/>
  </p:sldMasterIdLst>
  <p:notesMasterIdLst>
    <p:notesMasterId r:id="rId19"/>
  </p:notesMasterIdLst>
  <p:handoutMasterIdLst>
    <p:handoutMasterId r:id="rId20"/>
  </p:handoutMasterIdLst>
  <p:sldIdLst>
    <p:sldId id="256" r:id="rId4"/>
    <p:sldId id="565" r:id="rId5"/>
    <p:sldId id="727" r:id="rId6"/>
    <p:sldId id="739" r:id="rId7"/>
    <p:sldId id="728" r:id="rId8"/>
    <p:sldId id="729" r:id="rId9"/>
    <p:sldId id="730" r:id="rId10"/>
    <p:sldId id="731" r:id="rId11"/>
    <p:sldId id="736" r:id="rId12"/>
    <p:sldId id="737" r:id="rId13"/>
    <p:sldId id="738" r:id="rId14"/>
    <p:sldId id="740" r:id="rId15"/>
    <p:sldId id="741" r:id="rId16"/>
    <p:sldId id="726" r:id="rId17"/>
    <p:sldId id="725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99"/>
    <a:srgbClr val="AC0000"/>
    <a:srgbClr val="3366FF"/>
    <a:srgbClr val="B9077E"/>
    <a:srgbClr val="9C2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09" autoAdjust="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0E0CE79-DAE8-4048-B6AB-19834D8709FB}" type="datetime3">
              <a:rPr lang="en-US"/>
              <a:pPr>
                <a:defRPr/>
              </a:pPr>
              <a:t>9 February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N"/>
              <a:t>1-59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41858EF-1881-4336-AB88-9472B4E482B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08054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FAECF55-D18E-4ED6-8014-675926654BCE}" type="datetime3">
              <a:rPr lang="en-US"/>
              <a:pPr>
                <a:defRPr/>
              </a:pPr>
              <a:t>9 February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587D5A1-37CC-4B13-9F17-5059BEF349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4129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September 2023</a:t>
            </a: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1-59</a:t>
            </a:r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28EAE-3334-49EC-8589-5AF6585EF05D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FF280-07A0-4EB4-A859-9E1CC1EED282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C281A-152B-4113-BA77-2D78CD2F102E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73504-E9C1-47DE-B246-9EB564286FE5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10EA4-7127-4592-9BE5-6A72D2106C99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55215-30F5-4BFB-B797-98F9D6B36480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17D10-71B8-43F0-BB0A-FC7AC5CB332E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5AD774-7678-404E-AB42-7626B9DB1CDA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F6D41-0251-4D32-966B-B9C8A0F43FA9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72878-265C-491A-A1E8-5649F613F0C7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2E3BC8-CD15-4933-BB5F-8BBB0D23D3B6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308F7-264B-4EF7-BBB9-45F23AB4223A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D4AD6-7144-44C1-B268-4D30EC9054F2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AFF1-E9A8-483C-AB22-E756D763FD7A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AB2-D60F-40AD-88B3-DDF5E212460C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570F8-A7A9-458D-8784-0A026429531B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A6971-2CF4-424E-A038-8A9D2F89FADF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54E4E-9867-4E00-B87E-98795E6844AA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4F45-82A6-41DE-8410-8C3E9494CF64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946D7-67A6-4F92-85BF-0BACFE08532D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77FB-1D9E-4A61-8EB1-1AB56F6BABC4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8746-A49E-474B-8080-6C21E283E44C}" type="datetime5">
              <a:rPr lang="en-US" smtClean="0"/>
              <a:pPr/>
              <a:t>9-Feb-26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7CF2-8B4F-4925-B9AD-13D7D0B6AD1C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E35F-AF45-48F5-BF6D-ECA28BBF7AF1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F812-D911-4EAB-A79B-33F5B8B223E1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A1E2A-1C57-4B79-B28A-D9DF6B0ED691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4F900-82D6-469D-BC28-D6A0BE84D586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6853-E71B-4731-A2F9-D2A5CCFBEA49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FFFD-C45F-4DE1-A931-53C121650021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5115-C095-4B87-8CBC-E24CFF83CB91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CC385-4B30-4A88-BE9C-83BF169CF0B4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68AAE-083F-4BDD-B1C2-9F2B02683D6F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0544E-0D2E-4FB2-A771-AB072CE25677}" type="datetime5">
              <a:rPr lang="en-US" smtClean="0"/>
              <a:pPr/>
              <a:t>9-Feb-26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1/59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10138C4-E3D3-4E4C-B99E-00262CA72954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5" r:id="rId9"/>
    <p:sldLayoutId id="2147484573" r:id="rId10"/>
    <p:sldLayoutId id="2147484574" r:id="rId11"/>
    <p:sldLayoutId id="2147484603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05117-2169-41C1-A88D-A8E242B9C1A6}" type="datetime5">
              <a:rPr lang="en-US" smtClean="0"/>
              <a:pPr/>
              <a:t>9-Feb-26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B0718-5073-4484-8376-E024337FDDDF}" type="datetime5">
              <a:rPr lang="en-US" smtClean="0"/>
              <a:pPr/>
              <a:t>9-Feb-26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82" r:id="rId3"/>
    <p:sldLayoutId id="2147484583" r:id="rId4"/>
    <p:sldLayoutId id="2147484584" r:id="rId5"/>
    <p:sldLayoutId id="2147484585" r:id="rId6"/>
    <p:sldLayoutId id="2147484586" r:id="rId7"/>
    <p:sldLayoutId id="2147484587" r:id="rId8"/>
    <p:sldLayoutId id="2147484588" r:id="rId9"/>
    <p:sldLayoutId id="2147484589" r:id="rId10"/>
    <p:sldLayoutId id="2147484590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4572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 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</a:p>
        </p:txBody>
      </p:sp>
      <p:sp>
        <p:nvSpPr>
          <p:cNvPr id="87" name="Google Shape;87;p14"/>
          <p:cNvSpPr txBox="1"/>
          <p:nvPr/>
        </p:nvSpPr>
        <p:spPr>
          <a:xfrm>
            <a:off x="3035909" y="0"/>
            <a:ext cx="6108000" cy="17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KONGU ENGINEERING COLLEGE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PERUNDURAI ERODE-638060</a:t>
            </a:r>
            <a:endParaRPr sz="16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          </a:t>
            </a:r>
            <a:r>
              <a:rPr lang="en-US" sz="2100" b="1" dirty="0">
                <a:solidFill>
                  <a:schemeClr val="dk1"/>
                </a:solidFill>
              </a:rPr>
              <a:t>   </a:t>
            </a:r>
            <a:r>
              <a:rPr lang="en-US" sz="2200" b="1" dirty="0">
                <a:solidFill>
                  <a:schemeClr val="dk1"/>
                </a:solidFill>
              </a:rPr>
              <a:t>DEPARTMENT OF CT-UG</a:t>
            </a:r>
            <a:endParaRPr sz="2200" b="1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</a:rPr>
              <a:t>                    </a:t>
            </a:r>
            <a:r>
              <a:rPr lang="en-US" sz="2100" b="1" i="0" u="none" strike="noStrike" cap="none" dirty="0">
                <a:solidFill>
                  <a:srgbClr val="3C78D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ACADEMIC PROJECT</a:t>
            </a:r>
            <a:endParaRPr sz="2100" b="0" i="0" u="none" strike="noStrike" cap="none" dirty="0">
              <a:solidFill>
                <a:srgbClr val="3C78D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2935605" y="1861820"/>
            <a:ext cx="6039485" cy="2055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ts val="1200"/>
              </a:spcBef>
              <a:buSzPts val="1100"/>
            </a:pPr>
            <a:r>
              <a:rPr lang="en-US" sz="1900" b="1" dirty="0">
                <a:solidFill>
                  <a:srgbClr val="3C78D8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TITLE </a:t>
            </a:r>
            <a:r>
              <a:rPr lang="en-US" sz="18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 </a:t>
            </a:r>
            <a:r>
              <a:rPr lang="en-GB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Autoweave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Enterprise </a:t>
            </a:r>
            <a:r>
              <a:rPr lang="en-GB" sz="2000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R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esource </a:t>
            </a:r>
            <a:r>
              <a:rPr lang="en-GB" sz="2000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M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anagement </a:t>
            </a:r>
            <a:r>
              <a:rPr lang="en-GB" sz="2000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S</a:t>
            </a:r>
            <a:r>
              <a:rPr lang="en-GB" sz="20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ystem</a:t>
            </a:r>
            <a:endParaRPr lang="en-US" sz="2000" b="1" dirty="0">
              <a:solidFill>
                <a:schemeClr val="tx1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997459" y="2600632"/>
            <a:ext cx="6184900" cy="402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b="1" dirty="0">
              <a:solidFill>
                <a:srgbClr val="4472C4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PROJECT DOMAIN   : 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CONSULTANCY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PROJECT GUIDE       :</a:t>
            </a: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cs typeface="Times New Roman" panose="02020603050405020304" charset="0"/>
              </a:rPr>
              <a:t>M.HEMALATHA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TEAM NUMBER         : </a:t>
            </a:r>
            <a:r>
              <a:rPr lang="en-IN" b="1" dirty="0"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0</a:t>
            </a:r>
            <a:r>
              <a:rPr lang="en-IN" altLang="en-US" b="1" dirty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2</a:t>
            </a:r>
            <a:endParaRPr b="1" dirty="0">
              <a:solidFill>
                <a:srgbClr val="0C0C0C"/>
              </a:solidFill>
              <a:highlight>
                <a:srgbClr val="FFFFFF"/>
              </a:highlight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TEAM MEMBERS</a:t>
            </a:r>
            <a:r>
              <a:rPr lang="en-IN" alt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     </a:t>
            </a:r>
            <a:r>
              <a:rPr lang="en-US" b="1" dirty="0">
                <a:solidFill>
                  <a:srgbClr val="4472C4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ENIGA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.P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(2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3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BCR0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15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)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                              </a:t>
            </a:r>
            <a:r>
              <a:rPr lang="en-IN" alt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           </a:t>
            </a:r>
            <a:r>
              <a:rPr lang="en-US" alt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GOPIKA.S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(2</a:t>
            </a:r>
            <a:r>
              <a:rPr lang="en-IN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3</a:t>
            </a: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BCR017)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		          SAMEEKA.N(23BCR046)</a:t>
            </a:r>
            <a:endParaRPr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b="1" i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</a:t>
            </a:r>
            <a:endParaRPr b="1" i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76175" y="117902"/>
            <a:ext cx="898885" cy="10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A0614B-AB1C-4AD3-B4B7-147B176FF939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              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8E189-1CC6-EE4A-33AE-7643C6999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746176"/>
            <a:ext cx="2565141" cy="13076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00810" y="504184"/>
            <a:ext cx="7943850" cy="5715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D5F6F6-6F87-4C1E-B96F-F7CF53829315}" type="datetime5">
              <a:rPr lang="en-US" smtClean="0"/>
              <a:pPr>
                <a:defRPr/>
              </a:pPr>
              <a:t>9-Feb-26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AF3DB-657C-12A9-BF3F-270887F7433D}"/>
              </a:ext>
            </a:extLst>
          </p:cNvPr>
          <p:cNvSpPr txBox="1"/>
          <p:nvPr/>
        </p:nvSpPr>
        <p:spPr>
          <a:xfrm>
            <a:off x="609600" y="1730858"/>
            <a:ext cx="8305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Auto-Weave is a centralized, web-based ERP tailored for the textile manufacturing industry, replacing fragmented legacy systems.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real-time production tracking, loom performance monitoring, and comprehensive workforce management (attendance, shift scheduling).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Streamlines order fulfillment, automates payroll, and enables secure payments via Razor-pay.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insights through advanced PDF/Excel reporting on defect rates, daily output, and plant efficiency.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Features a responsive React-based interface with Dark Mode, multi-language support (including Tamil), and robust Role-Based Access Control (RBAC).</a:t>
            </a:r>
          </a:p>
        </p:txBody>
      </p:sp>
    </p:spTree>
    <p:extLst>
      <p:ext uri="{BB962C8B-B14F-4D97-AF65-F5344CB8AC3E}">
        <p14:creationId xmlns:p14="http://schemas.microsoft.com/office/powerpoint/2010/main" val="92423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5613-8734-34D3-D5CD-2D2F72B3C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2434-B5B4-4E3C-FA59-C5A28F5C9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25066"/>
            <a:ext cx="8229600" cy="4832350"/>
          </a:xfrm>
        </p:spPr>
        <p:txBody>
          <a:bodyPr/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Production Tracking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on manual entries for daily meter production causes data errors.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Worker Management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Paper-based tracking of attendance and shifts lacks transparency.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Financials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 is disconnected from attendance records.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Data-Driven Decisions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 consolidated dashboard prevents a bird's-eye view of mill health.</a:t>
            </a:r>
          </a:p>
          <a:p>
            <a:pPr lvl="1"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422BE-4F13-CB16-7CD2-AE1FF23E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9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56D4-5206-9B94-AD3A-57381FF6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5334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EXISTING SYSTEM AND PROPOSED SYSTEM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93853F-96F2-B1B4-2115-09E7B2C23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50231"/>
            <a:ext cx="8382000" cy="43322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62875-83AF-7CFD-30F7-636D0B07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70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77F3-2645-B8F7-C169-575E6C70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1524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SEQUNCE DIAGRAM: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A9841-6647-27CB-4946-6848E5044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5486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TRACKING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AE5D2-95CC-F722-69C3-7BB45E79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D3F2D9-F568-A16E-643D-28FF58BA2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20875"/>
            <a:ext cx="8001000" cy="42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7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4F4FE-FA65-0C69-63E6-A912BA85D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09600"/>
            <a:ext cx="8229600" cy="5410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AND PAYROLL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EB4F3-B101-3974-9B93-89698B26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680706-DA29-C024-EA2D-7FDD28D41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295400"/>
            <a:ext cx="691844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1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8F025-A4DD-15CD-D019-71B63A2F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09600"/>
            <a:ext cx="8229600" cy="5456237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D3648-DEE3-28C5-2BDE-89C6E448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D0DC01-0FEC-691A-B9D4-EC75E2782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85541"/>
            <a:ext cx="6705600" cy="5335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5ABED4-CD0C-8373-D464-5D7456F5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252413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FLOW DIAGRAM: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86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6438-1436-3A7B-AC60-A63F0F0A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2286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D6A0E-56B6-BF2E-7B91-30552A29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781F76-DE79-15F0-33A5-A0E4C7498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295400"/>
            <a:ext cx="36290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7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C62C-DC11-B923-2321-87FACA65E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-152400"/>
            <a:ext cx="8229600" cy="1143000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957C-085A-918A-E069-DFD929FE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88908-EBE0-C4F3-4227-6C1C28478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257679"/>
            <a:ext cx="7559488" cy="48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4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6F30-2F59-45AD-C584-079E7E5B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LEVEL 0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FF18-6B4D-18F9-764E-E1BFC83C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B07C3E-48C3-C69C-D452-ABD5CFE65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09800"/>
            <a:ext cx="74676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67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26FC-DE69-130E-2DDF-39EA3F62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0"/>
            <a:ext cx="6553200" cy="6096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LEVEL 1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5FF59-422C-F0C6-959D-1F31AA2C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C7797-E8FF-E129-6FB8-1FABB9353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2600"/>
            <a:ext cx="8304306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09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7835-C4D0-74A4-0F4B-EC9B96D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-762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SPECIFICATION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F7F74-0198-1BF8-04DD-E9B7CE21B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584" y="1509712"/>
            <a:ext cx="8229600" cy="50292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secure access to the system and protect sensitive production and payroll data.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Secure Login/Logout functionality.</a:t>
            </a: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MANAGEMENT MODULE: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track the status, efficiency, and production output of every loom in the factory.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Logging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Calculations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Monitoring</a:t>
            </a: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AND PAYROLL MODULE: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the workforce and automate salary distribution.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profiles with contact info and base shift rates.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Management: Record daily attendance/shifts.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Processing: Automated calculation of due salary (Unpaid Shifts × Shift Rate).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Integration: Digital payout via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manual cash entry recording.</a:t>
            </a: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781CB-2336-A955-7FC8-E4208438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10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C72F6-8BEB-72CE-8BAC-BBD9FDEC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39736"/>
            <a:ext cx="8153400" cy="556260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MODULE: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manage customer demands and ensure production alignment with deadlines.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Records: Store customer names and specific product requirements.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Tracking: Track orders in meters or relevant textile units.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order lifecycle (Pending → In Production → Completed).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Monitoring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REPORTS MODULE: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provide a high-level visual summary of the entire manufacturing operation.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Metrics Overview: Display total production, active machines, and overall mill efficiency.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Data: Charts for shift distributions and production trends.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Snapshots: Quick-view counters for pending orders and worker stats.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2F7B-C1F4-E4EA-B02E-0A642D14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4BF61-F125-4CA0-AB57-B476C44EE42C}" type="datetime5">
              <a:rPr lang="en-US" smtClean="0"/>
              <a:pPr>
                <a:defRPr/>
              </a:pPr>
              <a:t>9-Feb-26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7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060E-4E63-5726-4FB1-B6AA3539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3D23AC4-8E4B-9F89-FD45-2A49C22E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62000"/>
            <a:ext cx="7943850" cy="5715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775E4-C049-1523-1024-9B9BDD64E9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D5F6F6-6F87-4C1E-B96F-F7CF53829315}" type="datetime5">
              <a:rPr lang="en-US" smtClean="0"/>
              <a:pPr>
                <a:defRPr/>
              </a:pPr>
              <a:t>9-Feb-26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3BB97-7738-8B7E-A26A-49927A87221C}"/>
              </a:ext>
            </a:extLst>
          </p:cNvPr>
          <p:cNvSpPr txBox="1">
            <a:spLocks/>
          </p:cNvSpPr>
          <p:nvPr/>
        </p:nvSpPr>
        <p:spPr bwMode="auto">
          <a:xfrm>
            <a:off x="-1752600" y="2857500"/>
            <a:ext cx="79438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1706D-F049-732A-110F-1C0D0B1CC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00201"/>
            <a:ext cx="79438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7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659D-7D15-4636-BED0-AAF4BE8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20"/>
            <a:ext cx="7787208" cy="1152128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 !!</a:t>
            </a:r>
            <a:endParaRPr 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0226-49C8-4CEA-9F30-3C02E01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9-Feb-26</a:t>
            </a:fld>
            <a:endParaRPr lang="en-US" dirty="0"/>
          </a:p>
        </p:txBody>
      </p:sp>
      <p:pic>
        <p:nvPicPr>
          <p:cNvPr id="5" name="Picture 4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556" y="85116"/>
            <a:ext cx="952267" cy="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34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5C6574-58B2-48DC-9DCB-75BF18F68524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5909</TotalTime>
  <Words>516</Words>
  <Application>Microsoft Office PowerPoint</Application>
  <PresentationFormat>On-screen Show (4:3)</PresentationFormat>
  <Paragraphs>98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Wingdings 2</vt:lpstr>
      <vt:lpstr>Flow</vt:lpstr>
      <vt:lpstr>1_Custom Design</vt:lpstr>
      <vt:lpstr>Custom Design</vt:lpstr>
      <vt:lpstr>PowerPoint Presentation</vt:lpstr>
      <vt:lpstr>ABSTRACT</vt:lpstr>
      <vt:lpstr>PROBLEM DEFINITION</vt:lpstr>
      <vt:lpstr>COMPARISON BETWEEN EXISTING SYSTEM AND PROPOSED SYSTEM</vt:lpstr>
      <vt:lpstr>SEQUNCE DIAGRAM:</vt:lpstr>
      <vt:lpstr>PowerPoint Presentation</vt:lpstr>
      <vt:lpstr>SYSTEM FLOW DIAGRAM:</vt:lpstr>
      <vt:lpstr>USE CASE DIAGRAM</vt:lpstr>
      <vt:lpstr>CLASS DIAGRAM</vt:lpstr>
      <vt:lpstr>DATA FLOW DIAGRAM LEVEL 0</vt:lpstr>
      <vt:lpstr>DATA FLOW DIAGRAM LEVEL 1</vt:lpstr>
      <vt:lpstr>MODULE SPECIFICATION</vt:lpstr>
      <vt:lpstr>PowerPoint Presentation</vt:lpstr>
      <vt:lpstr>TECHNOLOGIES USED</vt:lpstr>
      <vt:lpstr>PowerPoint Presentation</vt:lpstr>
    </vt:vector>
  </TitlesOfParts>
  <Company>KVITT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ENIGA P</cp:lastModifiedBy>
  <cp:revision>654</cp:revision>
  <dcterms:created xsi:type="dcterms:W3CDTF">2013-12-25T07:56:38Z</dcterms:created>
  <dcterms:modified xsi:type="dcterms:W3CDTF">2026-02-09T03:26:24Z</dcterms:modified>
</cp:coreProperties>
</file>